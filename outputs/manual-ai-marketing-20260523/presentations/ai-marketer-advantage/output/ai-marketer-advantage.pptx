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215163c82d492f" /><Relationship Type="http://schemas.openxmlformats.org/officeDocument/2006/relationships/extended-properties" Target="/docProps/app.xml" Id="R8ee543266ff040e7" /><Relationship Type="http://schemas.openxmlformats.org/officeDocument/2006/relationships/officeDocument" Target="/ppt/presentation.xml" Id="R61469f67c56842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5e8573241e46ae"/>
  </p:sldMasterIdLst>
  <p:notesMasterIdLst>
    <p:notesMasterId xmlns:r="http://schemas.openxmlformats.org/officeDocument/2006/relationships" r:id="R56dce582f63e4a7a"/>
  </p:notesMasterIdLst>
  <p:sldIdLst>
    <p:sldId xmlns:r="http://schemas.openxmlformats.org/officeDocument/2006/relationships" id="256" r:id="Rf49cbb60d30e4a4c"/>
    <p:sldId xmlns:r="http://schemas.openxmlformats.org/officeDocument/2006/relationships" id="257" r:id="Rd97d8985e5fe4016"/>
    <p:sldId xmlns:r="http://schemas.openxmlformats.org/officeDocument/2006/relationships" id="258" r:id="Rff88bb8913a84630"/>
    <p:sldId xmlns:r="http://schemas.openxmlformats.org/officeDocument/2006/relationships" id="259" r:id="R39dcb1372e054378"/>
    <p:sldId xmlns:r="http://schemas.openxmlformats.org/officeDocument/2006/relationships" id="260" r:id="Rb05831018a224675"/>
    <p:sldId xmlns:r="http://schemas.openxmlformats.org/officeDocument/2006/relationships" id="261" r:id="Rc80691eeca7148cd"/>
    <p:sldId xmlns:r="http://schemas.openxmlformats.org/officeDocument/2006/relationships" id="262" r:id="R5a7c20ccc23c4f45"/>
    <p:sldId xmlns:r="http://schemas.openxmlformats.org/officeDocument/2006/relationships" id="263" r:id="Rc6f41d74357a4397"/>
    <p:sldId xmlns:r="http://schemas.openxmlformats.org/officeDocument/2006/relationships" id="264" r:id="R3865dc13e72e418b"/>
    <p:sldId xmlns:r="http://schemas.openxmlformats.org/officeDocument/2006/relationships" id="265" r:id="Rbf584a937d654f6f"/>
    <p:sldId xmlns:r="http://schemas.openxmlformats.org/officeDocument/2006/relationships" id="266" r:id="Rad75bdac291046bc"/>
    <p:sldId xmlns:r="http://schemas.openxmlformats.org/officeDocument/2006/relationships" id="267" r:id="R27f8e33e6d7a4af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5e8573241e46ae" /><Relationship Type="http://schemas.openxmlformats.org/officeDocument/2006/relationships/theme" Target="/ppt/theme/theme1.xml" Id="Rb5d05eddba424d2f" /><Relationship Type="http://schemas.openxmlformats.org/officeDocument/2006/relationships/notesMaster" Target="/ppt/notesMasters/notesMaster1.xml" Id="R56dce582f63e4a7a" /><Relationship Type="http://schemas.openxmlformats.org/officeDocument/2006/relationships/presProps" Target="/ppt/presProps.xml" Id="R90940e93631243a6" /><Relationship Type="http://schemas.openxmlformats.org/officeDocument/2006/relationships/viewProps" Target="/ppt/viewProps.xml" Id="R44da7bf208d74fca" /><Relationship Type="http://schemas.openxmlformats.org/officeDocument/2006/relationships/tableStyles" Target="/ppt/tableStyles.xml" Id="Raf00588ff0874378" /><Relationship Type="http://schemas.openxmlformats.org/officeDocument/2006/relationships/slide" Target="/ppt/slides/slide1.xml" Id="Rf49cbb60d30e4a4c" /><Relationship Type="http://schemas.openxmlformats.org/officeDocument/2006/relationships/slide" Target="/ppt/slides/slide2.xml" Id="Rd97d8985e5fe4016" /><Relationship Type="http://schemas.openxmlformats.org/officeDocument/2006/relationships/slide" Target="/ppt/slides/slide3.xml" Id="Rff88bb8913a84630" /><Relationship Type="http://schemas.openxmlformats.org/officeDocument/2006/relationships/slide" Target="/ppt/slides/slide4.xml" Id="R39dcb1372e054378" /><Relationship Type="http://schemas.openxmlformats.org/officeDocument/2006/relationships/slide" Target="/ppt/slides/slide5.xml" Id="Rb05831018a224675" /><Relationship Type="http://schemas.openxmlformats.org/officeDocument/2006/relationships/slide" Target="/ppt/slides/slide6.xml" Id="Rc80691eeca7148cd" /><Relationship Type="http://schemas.openxmlformats.org/officeDocument/2006/relationships/slide" Target="/ppt/slides/slide7.xml" Id="R5a7c20ccc23c4f45" /><Relationship Type="http://schemas.openxmlformats.org/officeDocument/2006/relationships/slide" Target="/ppt/slides/slide8.xml" Id="Rc6f41d74357a4397" /><Relationship Type="http://schemas.openxmlformats.org/officeDocument/2006/relationships/slide" Target="/ppt/slides/slide9.xml" Id="R3865dc13e72e418b" /><Relationship Type="http://schemas.openxmlformats.org/officeDocument/2006/relationships/slide" Target="/ppt/slides/slide10.xml" Id="Rbf584a937d654f6f" /><Relationship Type="http://schemas.openxmlformats.org/officeDocument/2006/relationships/slide" Target="/ppt/slides/slide11.xml" Id="Rad75bdac291046bc" /><Relationship Type="http://schemas.openxmlformats.org/officeDocument/2006/relationships/slide" Target="/ppt/slides/slide12.xml" Id="R27f8e33e6d7a4a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f369b3abad140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7b080f1b3d4a69" /><Relationship Type="http://schemas.openxmlformats.org/officeDocument/2006/relationships/notesMaster" Target="/ppt/notesMasters/notesMaster1.xml" Id="R3c72be53226d4c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8b91cb035e4230" /><Relationship Type="http://schemas.openxmlformats.org/officeDocument/2006/relationships/notesMaster" Target="/ppt/notesMasters/notesMaster1.xml" Id="R7c86d20196e145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e12881105449e6" /><Relationship Type="http://schemas.openxmlformats.org/officeDocument/2006/relationships/notesMaster" Target="/ppt/notesMasters/notesMaster1.xml" Id="R8f6f7b0614c64f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8821f7268e4cd8" /><Relationship Type="http://schemas.openxmlformats.org/officeDocument/2006/relationships/notesMaster" Target="/ppt/notesMasters/notesMaster1.xml" Id="R341212f4e9a241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426275ae0947d3" /><Relationship Type="http://schemas.openxmlformats.org/officeDocument/2006/relationships/notesMaster" Target="/ppt/notesMasters/notesMaster1.xml" Id="R8aff81dea9a241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bab4c8a98e4d20" /><Relationship Type="http://schemas.openxmlformats.org/officeDocument/2006/relationships/notesMaster" Target="/ppt/notesMasters/notesMaster1.xml" Id="Rc350643353004c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c971e932fc4ea9" /><Relationship Type="http://schemas.openxmlformats.org/officeDocument/2006/relationships/notesMaster" Target="/ppt/notesMasters/notesMaster1.xml" Id="R943bfa2ad76e43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ca7d61d5c44539" /><Relationship Type="http://schemas.openxmlformats.org/officeDocument/2006/relationships/notesMaster" Target="/ppt/notesMasters/notesMaster1.xml" Id="Rfee293109cec45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f0b9ba4e09471f" /><Relationship Type="http://schemas.openxmlformats.org/officeDocument/2006/relationships/notesMaster" Target="/ppt/notesMasters/notesMaster1.xml" Id="R4667470f6da541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ff31ac938142c0" /><Relationship Type="http://schemas.openxmlformats.org/officeDocument/2006/relationships/notesMaster" Target="/ppt/notesMasters/notesMaster1.xml" Id="R1de04290139246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476f6bcaef453e" /><Relationship Type="http://schemas.openxmlformats.org/officeDocument/2006/relationships/notesMaster" Target="/ppt/notesMasters/notesMaster1.xml" Id="R59b3cfbd9cda41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66144a9814420d" /><Relationship Type="http://schemas.openxmlformats.org/officeDocument/2006/relationships/notesMaster" Target="/ppt/notesMasters/notesMaster1.xml" Id="Rb1fda8339e0947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0844b8c924c2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939f0766ebb4e33" /><Relationship Type="http://schemas.openxmlformats.org/officeDocument/2006/relationships/slideLayout" Target="/ppt/slideLayouts/slideLayout2.xml" Id="Rae2492fd4fe548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2492fd4fe548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7921c4566b4ee7" /><Relationship Type="http://schemas.openxmlformats.org/officeDocument/2006/relationships/notesSlide" Target="/ppt/notesSlides/notesSlide1.xml" Id="R8e5796707c5b44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f43967e9934414" /><Relationship Type="http://schemas.openxmlformats.org/officeDocument/2006/relationships/notesSlide" Target="/ppt/notesSlides/notesSlide2.xml" Id="R0d8655534e8e44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9becea269f4a1c" /><Relationship Type="http://schemas.openxmlformats.org/officeDocument/2006/relationships/notesSlide" Target="/ppt/notesSlides/notesSlide3.xml" Id="R3fa6b6eb14b046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8de907a3a4426b" /><Relationship Type="http://schemas.openxmlformats.org/officeDocument/2006/relationships/notesSlide" Target="/ppt/notesSlides/notesSlide4.xml" Id="Ra310f6affd864b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464635058e4f19" /><Relationship Type="http://schemas.openxmlformats.org/officeDocument/2006/relationships/notesSlide" Target="/ppt/notesSlides/notesSlide5.xml" Id="R72379d3fcef44f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084895d69149aa" /><Relationship Type="http://schemas.openxmlformats.org/officeDocument/2006/relationships/notesSlide" Target="/ppt/notesSlides/notesSlide6.xml" Id="Rd81c5ee0c9fd4e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d599295b0a4cba" /><Relationship Type="http://schemas.openxmlformats.org/officeDocument/2006/relationships/notesSlide" Target="/ppt/notesSlides/notesSlide7.xml" Id="Rf32b34c78b374d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590a58c7994ada" /><Relationship Type="http://schemas.openxmlformats.org/officeDocument/2006/relationships/notesSlide" Target="/ppt/notesSlides/notesSlide8.xml" Id="Rec265f1772b044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d8198f3890430e" /><Relationship Type="http://schemas.openxmlformats.org/officeDocument/2006/relationships/notesSlide" Target="/ppt/notesSlides/notesSlide9.xml" Id="R6392aa41f74042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312dc615834046" /><Relationship Type="http://schemas.openxmlformats.org/officeDocument/2006/relationships/notesSlide" Target="/ppt/notesSlides/notesSlide10.xml" Id="Rf56a95947d774c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5716c5db554f2d" /><Relationship Type="http://schemas.openxmlformats.org/officeDocument/2006/relationships/notesSlide" Target="/ppt/notesSlides/notesSlide11.xml" Id="R72b49f12b83540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0fb33f944d4857" /><Relationship Type="http://schemas.openxmlformats.org/officeDocument/2006/relationships/notesSlide" Target="/ppt/notesSlides/notesSlide12.xml" Id="R56de35482d6b487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8DBB10-73A5-4368-806C-93773890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95B0688-D608-41D2-86A5-1DD4989A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D546C93-2529-4631-85BA-21CBA189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AI MARKETER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630DE-2A35-416C-ADFA-0CD35778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723900"/>
            <a:ext cx="3924300" cy="541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5357C-1BBA-4FE3-A90D-0BA42BE5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123950"/>
            <a:ext cx="571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8E7F7-47C1-4E93-8850-5228E14C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23950"/>
            <a:ext cx="571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5AA0F-3BBD-474E-A75D-417AFD6D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마케터가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60806-3BCF-425A-824C-F796BA85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AI에 대체되는 것이 아니라,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C8BAD-7CA4-471C-80C9-EA1FE56A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92D20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D92D20"/>
                </a:solidFill>
                <a:latin typeface="Noto Sans KR"/>
                <a:ea typeface="Noto Sans KR"/>
                <a:cs typeface="Noto Sans KR"/>
              </a:rPr>
              <a:t>AI를 못 쓰는 마케터가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330AD-A1B2-4ED5-B1C6-E634D26B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AI를 잘 쓰는 마케터에게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32527-6328-44D4-BEAE-4A627113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대체되는 시대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A0B0D-B810-46ED-88E6-8814826C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마케팅 경쟁력의 기준이 바뀌고 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9B60A7-E2FE-4A27-AF5B-BC839C30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AI 활용 능력은 도구 숙련도가 아니라 기획, 실행, 학습 속도의 차이입니다.</a:t>
            </a:r>
          </a:p>
        </p:txBody>
      </p:sp>
    </p:spTree>
    <p:extLst>
      <p:ext uri="{BB962C8B-B14F-4D97-AF65-F5344CB8AC3E}">
        <p14:creationId xmlns:p14="http://schemas.microsoft.com/office/powerpoint/2010/main" val="20591710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73D411-B802-4A25-9DC7-FDC8D40A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35CE5-C8CE-4D54-983A-7AC6C68F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164B032-AD72-4904-9B77-0D5B5068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FC7298B-2A00-4E62-AF96-8D6F47BA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COMPETITIVE EDGE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C24DC-1B34-427A-BFE0-36D7C55B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722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10가지 활용법은 콘텐츠, 분석, 검색, 자동화, 가격, 위기관리까지 경쟁력을 넓힌다.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7720E-89D6-4D21-919B-935910F1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AI는 마케팅 전문가의 실행 속도와 판단 밀도를 동시에 높인다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77B4F-D11E-4815-B50D-B7C3B08A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D5B16-3983-45E9-BA2E-4925A3D0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43811-FC90-4AA6-8C9C-EC52E87C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초개인화 콘텐츠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41158-DA12-4D65-90F3-E5705DAC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6225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D2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D92D2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37760-C589-4C8F-98A9-D28F563C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4325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24DDA-C9B6-4997-8B2A-A130F089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9565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고객 생애 가치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0597B-E76D-4259-B7F8-D665A5D2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D21DF6-EED7-4A12-91FD-71913181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F4A01-99A3-4931-86D7-58832ECC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9565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AI 검색 최적화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8CC7C-03E2-423F-8E27-0AD0B62F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6225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4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6A34A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E2608-D688-4B96-A41E-22528161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7B641-9BB1-413D-974D-5948596B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9565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시장 모니터링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8DD07-E375-42F4-BC04-BD911B14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6225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B70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5B700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3D315-1489-4CA7-87DB-AED4A7B6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4325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FF2617-77B9-4850-A1A7-E537EF29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9565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광고 A/B 테스트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C1C22F-A952-4D40-A303-12DA20D9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7AB27F-0EDF-4D26-BF51-D0D386DD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555F91-47CC-4F5B-B047-31922B02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영상 스케일업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F463B3-1BEC-4A29-8517-48E8DD8F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8620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2D2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D92D20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80AE96-FF91-44CF-AABB-E82CD1ED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672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7C9FA0-4C19-4934-B171-D15373BE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196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대화형 퍼널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C2AFA5-9BF1-4CE2-8F04-C5071AF8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8620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5F0F74-416E-4143-81D1-EF967979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672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B4D743-375B-434E-A464-0E2B88E2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196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업무 자동화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D95FE5-B5F4-47CB-81F3-42B1FF07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8620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4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6A34A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A26326-D9F0-459E-9AA6-208BD7B8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672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D254F8-63AE-46BB-A5EC-11741F5B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196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가격 최적화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FF0476-4703-44E2-A011-1A55720E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8620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B70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5B700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F3B9BC-A875-4DD6-9AB6-BF9EAACE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672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495B23-25B6-4E27-96C0-34D831C4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1960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브랜드 위기관리</a:t>
            </a:r>
          </a:p>
        </p:txBody>
      </p:sp>
    </p:spTree>
    <p:extLst>
      <p:ext uri="{BB962C8B-B14F-4D97-AF65-F5344CB8AC3E}">
        <p14:creationId xmlns:p14="http://schemas.microsoft.com/office/powerpoint/2010/main" val="6922756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00662C-5D57-4AC5-8E48-BA36AC24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DF674-2D07-4238-9B0A-A1555040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5242E39-1337-4AA0-9510-8BAF3341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AE92943-50AD-4DF8-B6C0-9FA1742A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01 PERSONALIZATION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C43CC-5D1E-4B85-8530-9E450FA7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722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AI는 하나의 캠페인을 수백 개의 개인별 문맥으로 확장한다.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B3FD0-1924-43B8-9AD2-CE3A3C58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고객 세그먼트가 아니라, 개인 단위 메시지를 대량 생산한다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2BD0B-2119-493F-A76E-49EC1FE4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CB5DE-679D-40C2-B82D-DF6704F6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7632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초개인화 콘텐츠 대량 생성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FD1E2-8B01-4CED-B609-C26B356F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DD667-693B-4542-88D2-33D825A3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하나의 브랜드 메시지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06950-AC52-4677-A49E-7BBEADF1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89883-40C7-4AAD-A2FC-F860A816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0507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AF95C1-61FF-41ED-8D1B-ECAD9E58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관심사별 카피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7BE56-E7C5-4DC1-AB42-EA5FA497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51F38-C148-44C2-A2B6-A5429559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242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EE9D6-4B8A-4193-9068-231C2DBA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004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구매 단계별 제안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96B69-63F4-485F-A689-9275422B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156F79-27B1-4736-909A-E1795137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4337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5B9D24-E05F-4425-8A05-D78B7F72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195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채널별 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EA63E2-30AD-4E67-B792-A5390985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244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3AB1B-BD3C-4ED9-9653-65409E6E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625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28D2DE-DD1C-42B2-9107-30A8BA39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38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재방문 트리거</a:t>
            </a:r>
          </a:p>
        </p:txBody>
      </p:sp>
    </p:spTree>
    <p:extLst>
      <p:ext uri="{BB962C8B-B14F-4D97-AF65-F5344CB8AC3E}">
        <p14:creationId xmlns:p14="http://schemas.microsoft.com/office/powerpoint/2010/main" val="3795636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F05771-97C2-4D2B-8C3B-95C7C7F6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44009-1AC3-406E-A3B6-61BF1B4D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7DA8AF6-1B55-4DD1-ADC1-066F334A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978991F-A97E-4986-96AC-C2333C91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02 LTV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97962-F38A-4945-AE97-3621412A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722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이탈 위험과 업셀 타이밍을 먼저 파악하면 마케팅 예산의 낭비가 줄어든다.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EE2C2-26A8-44A4-BF30-BEA49231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예측 분석은 다음 구매 가능성을 읽고 고객 생애 가치를 키운다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2E9F0-0615-46CD-B136-2349475F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5979C-621C-4797-A965-D69A602D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7632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예측 분석을 통한 고객 생애 가치 극대화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D2497-2553-4A7A-8370-90992230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이탈 위험 감지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6C853-EA59-4B3A-9EFF-34580D0F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146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BBAE6-DB11-4109-BBAA-267FA24D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14600"/>
            <a:ext cx="309372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E2B42-1162-4040-AD8F-8D74A4FE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384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2D2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D92D20"/>
                </a:solidFill>
                <a:latin typeface="Noto Sans KR"/>
                <a:ea typeface="Noto Sans KR"/>
                <a:cs typeface="Noto Sans KR"/>
              </a:rPr>
              <a:t>58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9A908-FFD3-499D-8EC1-2CE3AD0F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04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재구매 타이밍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A1389-21DA-4D99-B3BC-F610F9DE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D9DC0-FDE0-4066-BDA2-C7471039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384048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1C720-A090-45C3-923C-AAF61DF0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72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E240D-4046-416C-9FB0-D4696635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433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업셀 추천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2AD3F2-CE58-40CC-8DD8-9D2A2FA5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E63D5-70D0-403E-9BD2-53CBF403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448056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51E28A-9235-4685-94E2-AEE86486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243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84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B99DEC-3822-4ED7-8FD2-F9800F22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충성 고객 전환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2D6E17-2CAD-4C6C-9323-B96FFEA5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434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77A531-B978-4A43-A5A9-4F6748C0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43450"/>
            <a:ext cx="512064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8F6DE7-6A00-4AC2-B331-EF300470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672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A34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6A34A"/>
                </a:solidFill>
                <a:latin typeface="Noto Sans KR"/>
                <a:ea typeface="Noto Sans KR"/>
                <a:cs typeface="Noto Sans KR"/>
              </a:rPr>
              <a:t>96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8DEF23-C357-4445-A3B4-9809E5EF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530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고객별 다음 액션 점수</a:t>
            </a:r>
          </a:p>
        </p:txBody>
      </p:sp>
    </p:spTree>
    <p:extLst>
      <p:ext uri="{BB962C8B-B14F-4D97-AF65-F5344CB8AC3E}">
        <p14:creationId xmlns:p14="http://schemas.microsoft.com/office/powerpoint/2010/main" val="6711037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48FD3F-8FB4-419D-9A22-94BF2FA6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6CCF9-572A-401D-A4B4-8E744386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860F92E-2B89-49CC-884E-6719857A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FEFA88D-66A4-4AB6-8DB1-B181AE2B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03 AI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804431-EE62-4B2F-84B2-2CAB31AC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722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AI 검색 최적화는 키워드보다 신뢰 신호, 구조화된 답변, 인용 가능성을 설계한다.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481EF-72FB-4F1A-957E-B9FF6F43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검색 결과보다 AI 답변 안에 들어가는 브랜드가 선택받는다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B02E5-7406-4976-B2A8-03266B6A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63835-ECE5-45A3-A8DC-5B10F167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7632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 검색 엔진 최적화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0DB6C-CC09-4BBB-93B2-6CED79F5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0375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B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87B9D-B2B0-4DA6-B2D7-50969279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질문 의도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A2786-9F36-421A-AF3A-CA6E622E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766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84757-A020-432D-939D-5AB58FCA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004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953E5-AF42-4694-B9BC-95EA67AB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0375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B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50AA7-122B-4511-ABF7-75427032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29000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구조화 콘텐츠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EA10C-81AC-4F44-8143-9900382D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766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C925E-1E7B-4784-BA49-808EB106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36C54-27F4-4B10-B96B-D026B319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B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F6F1A3-16A6-4C2A-A356-74FC30DF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29000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신뢰 출처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AAD42-572D-4820-AE6F-1223DA1F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766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C7B539-3EE9-420D-809E-4F12F036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942BAF-BF50-487D-8F90-C16EF550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0375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060EAC-8165-4F6A-8CD9-C45B5986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29000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 답변 노출</a:t>
            </a:r>
          </a:p>
        </p:txBody>
      </p:sp>
    </p:spTree>
    <p:extLst>
      <p:ext uri="{BB962C8B-B14F-4D97-AF65-F5344CB8AC3E}">
        <p14:creationId xmlns:p14="http://schemas.microsoft.com/office/powerpoint/2010/main" val="1925434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76A92F-6F2F-4BAC-A19B-2C3A323B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3E5D6-F7A1-4DD4-81CB-49A50220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9A94196-F356-4980-99DB-0FBCF092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921B19E-63F6-4AE1-8CD5-62FD38CB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04 AGENTS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526CD-EC73-49EB-B4B7-ECDD83A5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722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반복 모니터링은 에이전트에게 맡기고, 사람은 해석과 의사결정에 집중한다.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E4965-6C5C-4562-8282-42A00CEE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자율형 AI 에이전트는 시장 변화를 실시간으로 감시한다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1DD23-78E4-4D63-9900-1F0539F6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02EB2-FD39-479F-A17F-03997B6F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7632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실시간 시장 및 경쟁사 모니터링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EF76F-43F5-4B32-9D0F-3021241E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DB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FF4A0-CBC0-416C-BD30-B41CD2E6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480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5F44E-999E-4541-BB70-97FE250B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623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03BC6-66F3-4354-B279-B73DA02E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8483C-E187-401E-ACB8-6BE2DAB1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669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가격 변경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1A87C-3CB8-4D1C-A540-5EDBC51C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670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27BB6-FF22-45BA-BA92-15AE0CCF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7527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신제품 출시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2029A4-3C4C-4B1D-B175-1F57D494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33875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5B229-F22D-43BE-9F63-27479F3D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19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광고 카피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86AE7-104D-4E01-A68F-E4B7C512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5300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6935F3-589C-4A27-BFA4-8098C86B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387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리뷰 변화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588393-CE7B-4E67-A6E2-6DD5012D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097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D99871-C8AB-4E0E-8D62-C556D681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8954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트렌드 급등</a:t>
            </a:r>
          </a:p>
        </p:txBody>
      </p:sp>
    </p:spTree>
    <p:extLst>
      <p:ext uri="{BB962C8B-B14F-4D97-AF65-F5344CB8AC3E}">
        <p14:creationId xmlns:p14="http://schemas.microsoft.com/office/powerpoint/2010/main" val="13496944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4B9417-9180-4A42-9461-B29D1870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FE729-A601-4A70-A582-1FA325F0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603FFA3-7A86-4828-96A4-3EFA20DD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696C025-90F7-4D77-931C-FD0E75BB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05 CREATIVE TESTING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89F4F-EF00-4DA0-B346-FBFB8639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722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카피, 이미지, 영상 조합을 빠르게 만들고 성과 신호로 다음 실험을 설계한다.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7F0BE-DC63-4B20-AD30-9F5DB0C5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멀티모달 AI는 광고 소재 실험의 병목을 없앤다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80C8D-5E22-4EE2-8DA6-45D039DC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10333-318F-4C6B-BE04-D75357A4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7632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멀티모달 AI 기반 광고 소재 무한 A/B 테스트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EF8A2-93F1-4CCB-B0E0-6FB2572E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카피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3DD22-9A2B-4863-B7DA-9F3E0CF0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이미지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B230F2-6084-4C42-A262-4AB0FA81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영상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43BE5-0CC5-4896-9C62-52EE130B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003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28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A안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24C07-6846-4C8F-8B12-D0313B9D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861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28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B안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11A4A-DC48-4F2A-8D24-3015B72F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719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728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C안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650FD-5872-42DF-BFDB-C8EF1D3F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765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68703-72BF-47BB-8DDE-CF8A0995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8132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실험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39759-0225-4C38-BC35-207D5570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765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9731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B0807-84E4-48E9-877B-22945C4E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8132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실험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BC02EF-086C-457B-93D6-24FCFEFC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765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BBADC-AA0F-4F8D-92E5-19F42D13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8132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A34A"/>
                </a:solidFill>
                <a:latin typeface="Noto Sans KR"/>
                <a:ea typeface="Noto Sans KR"/>
                <a:cs typeface="Noto Sans KR"/>
              </a:rPr>
              <a:t>실험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067D0-7A6F-48E0-A033-EAAC6729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9731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5B1762-9024-4C4E-B5E0-BFAEEA17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6712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실험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73156-079F-4D3B-A4CB-1EB4AC5D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623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A74F68-DBE1-4C76-836B-9AFEEBDF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6712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A34A"/>
                </a:solidFill>
                <a:latin typeface="Noto Sans KR"/>
                <a:ea typeface="Noto Sans KR"/>
                <a:cs typeface="Noto Sans KR"/>
              </a:rPr>
              <a:t>실험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A77712-7B46-4694-94F6-B737C8B9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623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1538AD-5A1F-4BDA-9DA9-A21DCC83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6712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승자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7466-E375-4E02-9CF9-2A4AA0E2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481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1E8CA8-63FA-4376-90D1-4B1FFB0C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5292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A34A"/>
                </a:solidFill>
                <a:latin typeface="Noto Sans KR"/>
                <a:ea typeface="Noto Sans KR"/>
                <a:cs typeface="Noto Sans KR"/>
              </a:rPr>
              <a:t>실험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B25683-5651-4F67-92D2-BAC20606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481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7C8771-A684-4CB4-A144-460CD04C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35292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실험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977824-EC95-42D2-A146-B0F6AB41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48150"/>
            <a:ext cx="1257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9731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92E434-8505-41C6-BC46-1169E5D3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5292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실험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A9A471-C8B6-479D-B322-685AB500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95875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주석: A/B 테스트는 두 개 이상의 광고, 문구, 디자인, 랜딩 페이지를 비교해 어떤 안이 더 좋은 성과를 내는지 검증하는 실험 방식입니다.</a:t>
            </a:r>
          </a:p>
        </p:txBody>
      </p:sp>
    </p:spTree>
    <p:extLst>
      <p:ext uri="{BB962C8B-B14F-4D97-AF65-F5344CB8AC3E}">
        <p14:creationId xmlns:p14="http://schemas.microsoft.com/office/powerpoint/2010/main" val="21233926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331726-A2D1-4C19-AAE1-40B96DA8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01048-5619-4372-8209-F1208ABD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28F9237-D8FE-4035-8CB9-ED2E359D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8C71735-36DA-4144-B27B-6133D256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06 VIDEO SCALE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EB4B6-13E7-4541-8FA0-5D736D3E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722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아이디어에서 숏폼, 리타겟팅 영상, 제품 설명 영상까지 제작 리드타임이 짧아진다.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33F81-E187-4CAF-9DAC-1B45632A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텍스트 투 비디오는 영상 마케팅의 생산 한계를 낮춘다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F4F43-5368-4814-976B-BC4AAC9A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23524-1265-4810-8029-90AFFD65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7632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텍스트 투 비디오 기반 영상 마케팅 스케일업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FEF37-DB2C-4525-8ECB-23F9C6A6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819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58AA11-5927-44A8-B877-7B036ED4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09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757BA-3ACF-4DC3-8392-8797A2EA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562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A2513-465E-4CD3-B381-F8499256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스크립트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95F39-0484-4240-9B28-18B67229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09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F25FB-2B46-46D6-8B2C-1FDEB420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62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79CD04-9352-40AD-820F-3BDB568A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862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장면 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2ADBE-ECE1-4452-A99D-8440977D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09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9A027-E7FF-4FD6-A3CF-FD8E9518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562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FC6505-3679-4B56-94AA-EC2C0AB8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862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버전 확장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3F244-5380-4654-A57C-7378EAB2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09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593744-B60C-4F7E-A0A7-8D37B1F8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562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34625-945A-4A14-AE84-4C93EB8A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862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채널 배포</a:t>
            </a:r>
          </a:p>
        </p:txBody>
      </p:sp>
    </p:spTree>
    <p:extLst>
      <p:ext uri="{BB962C8B-B14F-4D97-AF65-F5344CB8AC3E}">
        <p14:creationId xmlns:p14="http://schemas.microsoft.com/office/powerpoint/2010/main" val="1901671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5E7450-CC59-46AC-9F81-97FCDB9B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9098E-9962-426C-965F-2FE54586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B90785E-B2B8-4270-9B36-10044656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0D125AE-6AB5-4A6C-87AA-121E807C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07 CONVERSATIONAL FUNNEL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F66EF-23A7-4A20-8B8C-910DC971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722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대화형 퍼널은 고객의 질문, 망설임, 구매 의도를 즉시 다음 액션으로 연결한다.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836A7-7445-463A-B434-6139AEB5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퍼널은 페이지 이동이 아니라 대화 흐름으로 설계된다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395FE-834F-4A66-818B-FE852019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0FFAE-0E3C-4380-B8CA-CAA5F854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7632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대화형 마케팅 퍼널 설계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BED81-C8ED-4CFE-8E4F-1DACD80F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28875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313B8-92B6-45D9-B1F2-4173895C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43175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질문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72A64-1D50-4947-BACA-9C61CE5E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14675"/>
            <a:ext cx="609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1A204-FB1E-4090-B428-C3CFF064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28975"/>
            <a:ext cx="609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진단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58153-717E-4B39-8E6C-DE9E602C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00475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3CFAF-054D-4A0B-83AF-D8D4AD1B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1477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추천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3F17B-39AE-4367-B375-1EE7B162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86275"/>
            <a:ext cx="381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CA8EA1-BDB9-4837-BAF1-75A6040F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00575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구매 전환</a:t>
            </a:r>
          </a:p>
        </p:txBody>
      </p:sp>
    </p:spTree>
    <p:extLst>
      <p:ext uri="{BB962C8B-B14F-4D97-AF65-F5344CB8AC3E}">
        <p14:creationId xmlns:p14="http://schemas.microsoft.com/office/powerpoint/2010/main" val="16333466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4D7728-D541-4559-9608-0E8DA8B4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71179-7F83-483A-81FC-5584CEAD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7DED3EB-3315-4909-8163-38ACE73E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56BDDD9-4770-477E-8155-113B55AE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08 NO-CODE AUTOMATION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68595-BD8B-477D-B859-EBD54A1E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722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캠페인 운영, 리포팅, CRM 업데이트를 연결하면 실무자는 전략과 개선에 시간을 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2F0D0-9AEB-4B93-922D-652B3FFB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노코드 AI 통합은 마케팅 업무를 자동화 파이프라인으로 바꾼다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9D9E1-54BC-43F3-B84C-D33B735B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5B633-011E-4E92-951B-204F37E3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7632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노코드 AI 통합 자동화 파이프라인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C34DE-5FDE-4568-9704-46B2A757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43250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A38E5-4C69-4518-A5CE-0925F62E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3337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폼/CRM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1A665-5422-4EBD-B139-8906168A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575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DFB5B-A854-4E45-B018-A7ED9BB0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3909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7831A-930B-446A-9CF5-F81221BE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2B640-32E6-40E4-AEDE-6172EA20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3337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AI 분류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9EA43-F8F3-4A55-BF08-DB2FAE72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575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CA137-7397-411A-B6E8-465DDEFC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3909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731F5-A345-4AA2-9757-25A9D374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43250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524CE2-9492-457E-A3C8-E07D1E66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3337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콘텐츠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4D6A68-F69A-4591-8F4F-020FBE27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575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E96E0A-4374-4C9D-A37C-7A5517AD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3909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47CF1A-FE53-42DF-854C-70535E3C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43250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B4810E-23ED-476E-99CE-3B6C67EE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3337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발송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0A0ACF-63F9-420A-9D14-AF670CFC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5757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1EF9D0-ECC8-490E-AC9A-02EB3BAE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390900"/>
            <a:ext cx="133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70A47E-414A-47EF-A400-DDCAB361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43250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A4051E-7909-41E4-A579-7FE70AA9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337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리포트</a:t>
            </a:r>
          </a:p>
        </p:txBody>
      </p:sp>
    </p:spTree>
    <p:extLst>
      <p:ext uri="{BB962C8B-B14F-4D97-AF65-F5344CB8AC3E}">
        <p14:creationId xmlns:p14="http://schemas.microsoft.com/office/powerpoint/2010/main" val="203455466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E75B8F-ED20-43E1-B4D5-EC4953E6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FAAD0-AFBE-41D8-AD76-33397554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E6D8305-CFC5-490A-A51C-6D6AB8A7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C9C61CB-DB06-4AE2-B6F3-1C0F7CF5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09 PRICING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4BACD-7402-4637-9841-0CFDB98F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722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AI 가격 최적화는 할인 남발이 아니라 조건별 최적 프로모션을 찾는 일이다.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5B952-2225-4E87-B0CB-1022812B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동적 가격은 수요와 재고, 마진을 동시에 반영한다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F2AB4-3298-4F5D-B1EE-33695644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B4301-1852-4BC7-8E2A-DC031F0C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7632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 기반 동적 가격 설정 및 프로모션 최적화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4491D-CB0F-489E-A44C-5358BAD4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05050"/>
            <a:ext cx="2571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9AA0C-CAAE-41D1-9566-A0FCDBAB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8130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최적 가격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99F8C-F6F4-422A-BFC1-40EBCC3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337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5E7E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E5E7EB"/>
                </a:solidFill>
                <a:latin typeface="Noto Sans KR"/>
                <a:ea typeface="Noto Sans KR"/>
                <a:cs typeface="Noto Sans KR"/>
              </a:rPr>
              <a:t>프로모션 강도 조절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B4D40-7445-45BA-8F7F-AD22562A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2887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수요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3CBBF-9A23-432C-878C-548CB8C8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09875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64A2A-DAE1-40F1-B481-AB63C2F6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09875"/>
            <a:ext cx="164020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44843-7791-4BD6-9A56-3274F47B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재고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A1488B-0088-4604-8F15-DB680B74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CC8E9-CE6F-4959-B6EC-6055D0FC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92011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97CAD-74A2-41A9-B6B0-B7FB74CC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3387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마진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64DB64-CD16-4DBA-BB99-AC6DCBD7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14875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3D2C98-92C1-4842-9CB5-BBA3CE1A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14875"/>
            <a:ext cx="136017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C6038-B3E6-430F-8824-C4A7265E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경쟁가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838175-1A11-456C-A410-E7609836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D4D95D-CD28-4204-AA38-526C0F98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116014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62889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B105BA-7FBA-4775-AA34-309B84EE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5F084-F0E4-40EF-8CA5-710A4FE4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B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2B56255-FD18-49C0-80C4-FC163BCA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C8CD599-5A09-4D62-9E2C-B31FEFEC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10 BRAND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3167C-34AF-4F9A-ADE0-35C9D9EA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722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2124"/>
                </a:solidFill>
                <a:latin typeface="Noto Sans KR"/>
                <a:ea typeface="Noto Sans KR"/>
                <a:cs typeface="Noto Sans KR"/>
              </a:rPr>
              <a:t>감성 분석과 이슈 감지는 브랜드 위기를 조기 탐지하고 대응 우선순위를 정하게 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FF40C-2A5B-4C54-B47B-26958B09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733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소셜 리스닝은 위기를 늦게 발견하는 비용을 줄인다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478EB-BD0D-4281-996B-7FCEB0F0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6EEBF-D0BB-44E8-B64B-CAC42C5A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7632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소셜 리스닝 및 감성 분석 기반 브랜드 위기 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44494-7FF8-4F20-A4AF-0BB3F183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90875"/>
            <a:ext cx="432054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A677C-C05B-41D2-B917-F1182476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38525"/>
            <a:ext cx="40919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긍정 54%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1CFB6-4610-43D7-8CBC-5664E888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040" y="3190875"/>
            <a:ext cx="248031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91B9B-D539-4A9A-8628-45C2D430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0340" y="3438525"/>
            <a:ext cx="225171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중립 31%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B28B2-1BFF-4D1B-B664-2437CDCD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90875"/>
            <a:ext cx="1200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13FFF-EB23-4ACD-A070-D2B94E87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385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부정 15%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DB19E-880F-4930-861F-E3ADB950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51515"/>
                </a:solidFill>
                <a:latin typeface="Noto Sans KR"/>
                <a:ea typeface="Noto Sans KR"/>
                <a:cs typeface="Noto Sans KR"/>
              </a:rPr>
              <a:t>실시간 언급량과 감성 비중을 함께 보면 대응 우선순위가 선명해진다.</a:t>
            </a:r>
          </a:p>
        </p:txBody>
      </p:sp>
    </p:spTree>
    <p:extLst>
      <p:ext uri="{BB962C8B-B14F-4D97-AF65-F5344CB8AC3E}">
        <p14:creationId xmlns:p14="http://schemas.microsoft.com/office/powerpoint/2010/main" val="1146111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2026-05-23T12:15:04.7620000Z</dcterms:created>
  <dcterms:modified xsi:type="dcterms:W3CDTF">2026-05-23T12:15:04.7620000Z</dcterms:modified>
</coreProperties>
</file>